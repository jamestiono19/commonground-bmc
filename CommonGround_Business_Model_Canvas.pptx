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36576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1900" b="1">
                <a:solidFill>
                  <a:srgbClr val="6D28D9"/>
                </a:solidFill>
                <a:latin typeface="Poppins"/>
              </a:rPr>
              <a:t>CommonGround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7315200" cy="685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3400" b="1">
                <a:solidFill>
                  <a:srgbClr val="6D28D9"/>
                </a:solidFill>
                <a:latin typeface="Poppins"/>
              </a:rPr>
              <a:t>Business Model </a:t>
            </a:r>
            <a:r>
              <a:rPr sz="3400" b="1">
                <a:solidFill>
                  <a:srgbClr val="1E1B4B"/>
                </a:solidFill>
                <a:latin typeface="Poppins"/>
              </a:rPr>
              <a:t>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1050" b="0">
                <a:solidFill>
                  <a:srgbClr val="5B5675"/>
                </a:solidFill>
                <a:latin typeface="Open Sans"/>
              </a:rPr>
              <a:t>A one-page view of how CommonGround creates, delivers and captures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347472"/>
            <a:ext cx="4754880" cy="1298448"/>
          </a:xfrm>
          <a:prstGeom prst="roundRect">
            <a:avLst>
              <a:gd name="adj" fmla="val 12676"/>
            </a:avLst>
          </a:prstGeom>
          <a:gradFill rotWithShape="1">
            <a:gsLst>
              <a:gs pos="0">
                <a:srgbClr val="F1EBFD"/>
              </a:gs>
              <a:gs pos="100000">
                <a:srgbClr val="FBF8FF"/>
              </a:gs>
            </a:gsLst>
            <a:lin scaled="0" ang="18900000"/>
          </a:gra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566928"/>
            <a:ext cx="96012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00" b="1">
                <a:solidFill>
                  <a:srgbClr val="1E1B4B"/>
                </a:solidFill>
                <a:latin typeface="Open Sans"/>
              </a:rPr>
              <a:t>Business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548640"/>
            <a:ext cx="13716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6D28D9"/>
                </a:solidFill>
                <a:latin typeface="Open Sans"/>
              </a:rPr>
              <a:t>CommonGround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55480" y="813816"/>
            <a:ext cx="1371600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566928"/>
            <a:ext cx="530352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00" b="1">
                <a:solidFill>
                  <a:srgbClr val="1E1B4B"/>
                </a:solidFill>
                <a:latin typeface="Open Sans"/>
              </a:rPr>
              <a:t>Date: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0312" y="548640"/>
            <a:ext cx="1316736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6D28D9"/>
                </a:solidFill>
                <a:latin typeface="Open Sans"/>
              </a:rPr>
              <a:t>10 Oct 2026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640312" y="813816"/>
            <a:ext cx="1316736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1069848"/>
            <a:ext cx="96012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00" b="1">
                <a:solidFill>
                  <a:srgbClr val="1E1B4B"/>
                </a:solidFill>
                <a:latin typeface="Open Sans"/>
              </a:rPr>
              <a:t>Prepared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051560"/>
            <a:ext cx="13716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6D28D9"/>
                </a:solidFill>
                <a:latin typeface="Open Sans"/>
              </a:rPr>
              <a:t>CommonGround Team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55480" y="1316736"/>
            <a:ext cx="1371600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01400" y="1069848"/>
            <a:ext cx="530352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00" b="1">
                <a:solidFill>
                  <a:srgbClr val="1E1B4B"/>
                </a:solidFill>
                <a:latin typeface="Open Sans"/>
              </a:rPr>
              <a:t>Version: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0312" y="1051560"/>
            <a:ext cx="1316736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6D28D9"/>
                </a:solidFill>
                <a:latin typeface="Open Sans"/>
              </a:rPr>
              <a:t>Food-only MVP · V3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40312" y="1316736"/>
            <a:ext cx="1316736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1874519"/>
            <a:ext cx="2450592" cy="4389120"/>
          </a:xfrm>
          <a:prstGeom prst="roundRect">
            <a:avLst>
              <a:gd name="adj" fmla="val 6716"/>
            </a:avLst>
          </a:prstGeom>
          <a:gradFill rotWithShape="1">
            <a:gsLst>
              <a:gs pos="0">
                <a:srgbClr val="EDE7FB"/>
              </a:gs>
              <a:gs pos="100000">
                <a:srgbClr val="F8F5FE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2359152" cy="1693750"/>
          </a:xfrm>
          <a:prstGeom prst="rect">
            <a:avLst/>
          </a:prstGeom>
        </p:spPr>
      </p:pic>
      <p:pic>
        <p:nvPicPr>
          <p:cNvPr id="20" name="Picture 19" descr="icon-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2082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" y="2020824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Key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587752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Who helps us deliver value?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880360"/>
            <a:ext cx="2176272" cy="1463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Ad network (e.g. Google AdSense)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Map &amp; place-data providers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BINUS student organisations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Campus &amp; Festival organisers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824727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E9E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80" b="1">
                <a:solidFill>
                  <a:srgbClr val="4C1D95"/>
                </a:solidFill>
                <a:latin typeface="Open Sans"/>
              </a:rPr>
              <a:t>Partners bring reach &amp;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4952" y="1874519"/>
            <a:ext cx="2450592" cy="2130552"/>
          </a:xfrm>
          <a:prstGeom prst="roundRect">
            <a:avLst>
              <a:gd name="adj" fmla="val 7725"/>
            </a:avLst>
          </a:prstGeom>
          <a:gradFill rotWithShape="1">
            <a:gsLst>
              <a:gs pos="0">
                <a:srgbClr val="FCE7F3"/>
              </a:gs>
              <a:gs pos="100000">
                <a:srgbClr val="FDF4FA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020824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721608" y="2020824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Key Activities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9544" y="2587752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What must we do well?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2880360"/>
            <a:ext cx="2176272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Build the 7-screen decision flow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Filter &gt; score &gt; fairness &gt; Top 3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Verify 30–50 venues near campus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Run the 10-group 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44952" y="4133087"/>
            <a:ext cx="2450592" cy="2130552"/>
          </a:xfrm>
          <a:prstGeom prst="roundRect">
            <a:avLst>
              <a:gd name="adj" fmla="val 7725"/>
            </a:avLst>
          </a:prstGeom>
          <a:gradFill rotWithShape="1">
            <a:gsLst>
              <a:gs pos="0">
                <a:srgbClr val="EDE7FB"/>
              </a:gs>
              <a:gs pos="100000">
                <a:srgbClr val="F8F5FE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4279392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21608" y="4279392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Key 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9544" y="4846320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What do we need?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9544" y="5138928"/>
            <a:ext cx="2176272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Rules-based matching engine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Verified venue database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Product team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Traffic from shared room links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32704" y="1874519"/>
            <a:ext cx="2450592" cy="4389120"/>
          </a:xfrm>
          <a:prstGeom prst="roundRect">
            <a:avLst>
              <a:gd name="adj" fmla="val 6716"/>
            </a:avLst>
          </a:prstGeom>
          <a:gradFill rotWithShape="1">
            <a:gsLst>
              <a:gs pos="0">
                <a:srgbClr val="F6F3FC"/>
              </a:gs>
              <a:gs pos="100000">
                <a:srgbClr val="FFFFFF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g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2020824"/>
            <a:ext cx="457200" cy="4572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09360" y="2020824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Value Propositions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7296" y="2587752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Why do groups choose us?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7296" y="2880360"/>
            <a:ext cx="2176272" cy="1463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Fair: hard limits first, nobody below 60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Private: nobody sees your limits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Fast: one link, no sign-up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Advertisers: brand-safe 18–25 audience</a:t>
            </a:r>
          </a:p>
        </p:txBody>
      </p:sp>
      <p:pic>
        <p:nvPicPr>
          <p:cNvPr id="40" name="Picture 39" descr="peo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296" y="4270248"/>
            <a:ext cx="2121408" cy="108937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742432" y="5385816"/>
            <a:ext cx="2231136" cy="47548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/>
            <a:r>
              <a:rPr sz="1050" b="1">
                <a:solidFill>
                  <a:srgbClr val="1E1B4B"/>
                </a:solidFill>
                <a:latin typeface="Poppins"/>
              </a:rPr>
              <a:t>“Satu link. Semua jawab. Tiga pilihan pas.”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97296" y="5824727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E9E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80" b="1">
                <a:solidFill>
                  <a:srgbClr val="4C1D95"/>
                </a:solidFill>
                <a:latin typeface="Open Sans"/>
              </a:rPr>
              <a:t>Kumpulkan preferensi tanpa debat.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0456" y="1874519"/>
            <a:ext cx="2450592" cy="2130552"/>
          </a:xfrm>
          <a:prstGeom prst="roundRect">
            <a:avLst>
              <a:gd name="adj" fmla="val 7725"/>
            </a:avLst>
          </a:prstGeom>
          <a:gradFill rotWithShape="1">
            <a:gsLst>
              <a:gs pos="0">
                <a:srgbClr val="EDE7FB"/>
              </a:gs>
              <a:gs pos="100000">
                <a:srgbClr val="F8F5FE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-message-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2020824"/>
            <a:ext cx="457200" cy="457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97112" y="2020824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200" b="1">
                <a:solidFill>
                  <a:srgbClr val="1E1B4B"/>
                </a:solidFill>
                <a:latin typeface="Poppins"/>
              </a:rPr>
              <a:t>Customer Relationships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2587752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How do we keep users?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2880360"/>
            <a:ext cx="2176272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Self-service, no sign-up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Automated timer, Top 3 &amp; veto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In-app feedback &amp; venue flags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Campus student communities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0456" y="4133087"/>
            <a:ext cx="2450592" cy="2130552"/>
          </a:xfrm>
          <a:prstGeom prst="roundRect">
            <a:avLst>
              <a:gd name="adj" fmla="val 7725"/>
            </a:avLst>
          </a:prstGeom>
          <a:gradFill rotWithShape="1">
            <a:gsLst>
              <a:gs pos="0">
                <a:srgbClr val="FCE7F3"/>
              </a:gs>
              <a:gs pos="100000">
                <a:srgbClr val="FDF4FA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con-megapho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4279392"/>
            <a:ext cx="457200" cy="4572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897112" y="4279392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Channels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4846320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How do we reach users?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5138928"/>
            <a:ext cx="2176272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Room links: WhatsApp, LINE, Discord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Campus QR codes &amp; Festival demo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Social media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Every room brings 3–7 new people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08208" y="1874519"/>
            <a:ext cx="2450592" cy="4389120"/>
          </a:xfrm>
          <a:prstGeom prst="roundRect">
            <a:avLst>
              <a:gd name="adj" fmla="val 6716"/>
            </a:avLst>
          </a:prstGeom>
          <a:gradFill rotWithShape="1">
            <a:gsLst>
              <a:gs pos="0">
                <a:srgbClr val="EDE7FB"/>
              </a:gs>
              <a:gs pos="100000">
                <a:srgbClr val="F8F5FE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lo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7352" y="4258759"/>
            <a:ext cx="2432304" cy="1995736"/>
          </a:xfrm>
          <a:prstGeom prst="rect">
            <a:avLst/>
          </a:prstGeom>
        </p:spPr>
      </p:pic>
      <p:pic>
        <p:nvPicPr>
          <p:cNvPr id="55" name="Picture 54" descr="icon-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2020824"/>
            <a:ext cx="457200" cy="4572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484864" y="2020824"/>
            <a:ext cx="1673352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Customer Segments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2587752"/>
            <a:ext cx="2139696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Who do we serve?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2880360"/>
            <a:ext cx="2176272" cy="1600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Users (free): BINUS students &amp; friend groups of 4–8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Payers: advertisers via ad network – games, apps, e-commerce</a:t>
            </a:r>
          </a:p>
          <a:p>
            <a:pPr>
              <a:spcAft>
                <a:spcPts val="300"/>
              </a:spcAft>
            </a:pPr>
            <a:r>
              <a:rPr sz="860">
                <a:solidFill>
                  <a:srgbClr val="2E2A47"/>
                </a:solidFill>
                <a:latin typeface="Open Sans"/>
              </a:rPr>
              <a:t>•  Later: frequent hosts (CommonGround+)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91088" y="5623559"/>
            <a:ext cx="2084832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/>
            <a:r>
              <a:rPr sz="800" b="1">
                <a:solidFill>
                  <a:srgbClr val="1E1B4B"/>
                </a:solidFill>
                <a:latin typeface="Poppins"/>
              </a:rPr>
              <a:t>THE RIGHT GROUP,</a:t>
            </a:r>
          </a:p>
          <a:p>
            <a:pPr algn="ctr"/>
            <a:r>
              <a:rPr sz="800" b="1">
                <a:solidFill>
                  <a:srgbClr val="1E1B4B"/>
                </a:solidFill>
                <a:latin typeface="Poppins"/>
              </a:rPr>
              <a:t>THE RIGHT PLACE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6400800"/>
            <a:ext cx="6327648" cy="219456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FCE7F3"/>
              </a:gs>
              <a:gs pos="100000">
                <a:srgbClr val="FDF4FA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woos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5887" y="7449616"/>
            <a:ext cx="3099816" cy="1136599"/>
          </a:xfrm>
          <a:prstGeom prst="rect">
            <a:avLst/>
          </a:prstGeom>
        </p:spPr>
      </p:pic>
      <p:pic>
        <p:nvPicPr>
          <p:cNvPr id="62" name="Picture 61" descr="icon-coi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04" y="6547104"/>
            <a:ext cx="457200" cy="4572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33856" y="6547104"/>
            <a:ext cx="5550408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Cost Structure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" y="7040880"/>
            <a:ext cx="5504688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What does it cost to run?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" y="7296912"/>
            <a:ext cx="3923141" cy="8412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Development &amp; hosting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Data / API use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Venue checks &amp; updates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Campus marketing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33856" y="8211312"/>
            <a:ext cx="1984248" cy="274320"/>
          </a:xfrm>
          <a:prstGeom prst="roundRect">
            <a:avLst>
              <a:gd name="adj" fmla="val 50000"/>
            </a:avLst>
          </a:prstGeom>
          <a:solidFill>
            <a:srgbClr val="E9E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80" b="1">
                <a:solidFill>
                  <a:srgbClr val="4C1D95"/>
                </a:solidFill>
                <a:latin typeface="Open Sans"/>
              </a:rPr>
              <a:t>Lean build. Verified data.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31152" y="6400800"/>
            <a:ext cx="6327648" cy="219456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E7FB"/>
              </a:gs>
              <a:gs pos="100000">
                <a:srgbClr val="F8F5FE"/>
              </a:gs>
            </a:gsLst>
            <a:lin scaled="0" ang="18900000"/>
          </a:gradFill>
          <a:ln w="12700">
            <a:solidFill>
              <a:srgbClr val="E4D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woos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7449616"/>
            <a:ext cx="3099816" cy="1136599"/>
          </a:xfrm>
          <a:prstGeom prst="rect">
            <a:avLst/>
          </a:prstGeom>
        </p:spPr>
      </p:pic>
      <p:pic>
        <p:nvPicPr>
          <p:cNvPr id="69" name="Picture 68" descr="icon-circle-dollar-sig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7456" y="6547104"/>
            <a:ext cx="457200" cy="457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607808" y="6547104"/>
            <a:ext cx="5550408" cy="4572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/>
            <a:r>
              <a:rPr sz="1300" b="1">
                <a:solidFill>
                  <a:srgbClr val="1E1B4B"/>
                </a:solidFill>
                <a:latin typeface="Poppins"/>
              </a:rPr>
              <a:t>Revenue Streams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7808" y="7040880"/>
            <a:ext cx="5504688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>
                <a:solidFill>
                  <a:srgbClr val="1E1B4B"/>
                </a:solidFill>
                <a:latin typeface="Open Sans"/>
              </a:rPr>
              <a:t>How do we make money?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7808" y="7296912"/>
            <a:ext cx="3923141" cy="8412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Phase 1: free pilot, no ads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Phase 2: in-app ads (CPM / CPC) on 2 screens only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Phase 3: CommonGround+ for hosts, ~Rp15–25k / month</a:t>
            </a:r>
          </a:p>
          <a:p>
            <a:pPr>
              <a:spcAft>
                <a:spcPts val="300"/>
              </a:spcAft>
            </a:pPr>
            <a:r>
              <a:rPr sz="880">
                <a:solidFill>
                  <a:srgbClr val="2E2A47"/>
                </a:solidFill>
                <a:latin typeface="Open Sans"/>
              </a:rPr>
              <a:t>•  Never food ads – picks stay neutral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07808" y="8211312"/>
            <a:ext cx="3264408" cy="274320"/>
          </a:xfrm>
          <a:prstGeom prst="roundRect">
            <a:avLst>
              <a:gd name="adj" fmla="val 50000"/>
            </a:avLst>
          </a:prstGeom>
          <a:solidFill>
            <a:srgbClr val="E9E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80" b="1">
                <a:solidFill>
                  <a:srgbClr val="4C1D95"/>
                </a:solidFill>
                <a:latin typeface="Open Sans"/>
              </a:rPr>
              <a:t>Free for users. Ads first, subscription later.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8732520"/>
            <a:ext cx="1280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700" b="0">
                <a:solidFill>
                  <a:srgbClr val="8A85A3"/>
                </a:solidFill>
                <a:latin typeface="Open Sans"/>
              </a:rPr>
              <a:t>Source: CommonGround Team Brief, Food-only MVP · V3 – all figures are hypotheses to validate. Based on the Business Model Canvas by Strategyzer (CC BY-SA 3.0).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